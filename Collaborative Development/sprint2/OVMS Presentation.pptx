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70" r:id="rId4"/>
    <p:sldId id="271" r:id="rId5"/>
    <p:sldId id="272" r:id="rId6"/>
    <p:sldId id="274" r:id="rId7"/>
    <p:sldId id="280" r:id="rId8"/>
    <p:sldId id="279" r:id="rId9"/>
    <p:sldId id="258" r:id="rId10"/>
    <p:sldId id="259" r:id="rId11"/>
    <p:sldId id="275" r:id="rId12"/>
    <p:sldId id="277" r:id="rId13"/>
    <p:sldId id="260" r:id="rId14"/>
    <p:sldId id="261" r:id="rId15"/>
    <p:sldId id="262" r:id="rId16"/>
    <p:sldId id="263" r:id="rId17"/>
    <p:sldId id="264" r:id="rId18"/>
    <p:sldId id="278" r:id="rId19"/>
    <p:sldId id="266" r:id="rId20"/>
    <p:sldId id="267" r:id="rId21"/>
    <p:sldId id="269" r:id="rId22"/>
  </p:sldIdLst>
  <p:sldSz cx="12192000" cy="6858000"/>
  <p:notesSz cx="6858000" cy="9144000"/>
  <p:embeddedFontLst>
    <p:embeddedFont>
      <p:font typeface="Bree Serif" panose="02000503040000020004" pitchFamily="2" charset="77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Inter" panose="020F0502020204030204" pitchFamily="34" charset="0"/>
      <p:regular r:id="rId29"/>
      <p:bold r:id="rId30"/>
      <p:italic r:id="rId31"/>
      <p:boldItalic r:id="rId32"/>
    </p:embeddedFont>
    <p:embeddedFont>
      <p:font typeface="Rowdies" pitchFamily="2" charset="77"/>
      <p:regular r:id="rId33"/>
      <p:bold r:id="rId34"/>
    </p:embeddedFont>
    <p:embeddedFont>
      <p:font typeface="Work Sans" pitchFamily="2" charset="77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B77ECEB-9D45-4E5F-A07B-EC7B13CEC692}">
  <a:tblStyle styleId="{7B77ECEB-9D45-4E5F-A07B-EC7B13CEC69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6"/>
    <p:restoredTop sz="94676"/>
  </p:normalViewPr>
  <p:slideViewPr>
    <p:cSldViewPr snapToGrid="0">
      <p:cViewPr>
        <p:scale>
          <a:sx n="130" d="100"/>
          <a:sy n="130" d="100"/>
        </p:scale>
        <p:origin x="928" y="6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0170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712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7115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5051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8205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4444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97949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34965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40493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25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3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3351" y="4307532"/>
            <a:ext cx="1905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48600" y="3524250"/>
            <a:ext cx="48196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323207" y="1649313"/>
            <a:ext cx="7545437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10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E63946"/>
                </a:solidFill>
                <a:latin typeface="Bree Serif"/>
                <a:ea typeface="Bree Serif"/>
                <a:cs typeface="Bree Serif"/>
                <a:sym typeface="Bree Serif"/>
              </a:rPr>
              <a:t>PROJECT DEFENSE &amp; DEMO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2134570" y="2448817"/>
            <a:ext cx="8507303" cy="1726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 dirty="0">
                <a:solidFill>
                  <a:srgbClr val="1D3557"/>
                </a:solidFill>
                <a:latin typeface="Rowdies"/>
                <a:ea typeface="Rowdies"/>
                <a:cs typeface="Rowdies"/>
                <a:sym typeface="Rowdies"/>
              </a:rPr>
              <a:t>ONLINE VOTING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100" b="1" i="0" u="none" strike="noStrike" cap="none" dirty="0">
                <a:solidFill>
                  <a:srgbClr val="E63946"/>
                </a:solidFill>
                <a:latin typeface="Rowdies"/>
                <a:ea typeface="Rowdies"/>
                <a:cs typeface="Rowdies"/>
                <a:sym typeface="Rowdies"/>
              </a:rPr>
              <a:t>MANAGEMENT SYSTEM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1606224" y="4671406"/>
            <a:ext cx="9563993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4A5568"/>
                </a:solidFill>
                <a:latin typeface="Bree Serif"/>
                <a:ea typeface="Bree Serif"/>
                <a:cs typeface="Bree Serif"/>
                <a:sym typeface="Bree Serif"/>
              </a:rPr>
              <a:t>Secure, Transparent, and Accessible Ballot Framework</a:t>
            </a:r>
            <a:endParaRPr lang="en-US" dirty="0"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65736" y="1706463"/>
            <a:ext cx="3238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118693"/>
            <a:ext cx="19812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33700" y="3118693"/>
            <a:ext cx="19812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05400" y="3118693"/>
            <a:ext cx="19812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77100" y="3118693"/>
            <a:ext cx="19812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48800" y="3118693"/>
            <a:ext cx="19812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48600" y="3524250"/>
            <a:ext cx="48196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932110"/>
            <a:ext cx="5048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929708" y="3437836"/>
            <a:ext cx="164020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Aadarsha</a:t>
            </a:r>
            <a:r>
              <a:rPr lang="en-US" sz="1950" b="1" i="0" u="none" strike="noStrike" cap="none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 K.C.(PM)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868511" y="4052640"/>
            <a:ext cx="182213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Strategy, Scoping &amp; Management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3104197" y="3490079"/>
            <a:ext cx="164020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Suwan</a:t>
            </a:r>
            <a:r>
              <a:rPr lang="en-US" sz="1950" b="1" i="0" u="none" strike="noStrike" cap="none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 </a:t>
            </a:r>
            <a:r>
              <a:rPr lang="en-US" sz="1950" b="1" i="0" u="none" strike="noStrike" cap="none" dirty="0" err="1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Dhital</a:t>
            </a:r>
            <a:r>
              <a:rPr lang="en-US" sz="1950" b="1" i="0" u="none" strike="noStrike" cap="none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 (BA)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3143250" y="4080718"/>
            <a:ext cx="1562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SRS Requirements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187791" y="3439894"/>
            <a:ext cx="164020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Subrat</a:t>
            </a:r>
            <a:r>
              <a:rPr lang="en-US" sz="1950" b="1" i="0" u="none" strike="noStrike" cap="none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 </a:t>
            </a:r>
            <a:r>
              <a:rPr lang="en-US" sz="1950" b="1" i="0" u="none" strike="noStrike" cap="none" dirty="0" err="1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Regmi</a:t>
            </a:r>
            <a:r>
              <a:rPr lang="en-US" sz="1950" b="1" i="0" u="none" strike="noStrike" cap="none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 (Lead Dev)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5192010" y="4080718"/>
            <a:ext cx="18669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Admin panel/Core Backend</a:t>
            </a:r>
            <a:endParaRPr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7299926" y="3453195"/>
            <a:ext cx="177012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Kriteeka</a:t>
            </a:r>
            <a:r>
              <a:rPr lang="en-US" sz="1950" b="1" i="0" u="none" strike="noStrike" cap="none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 Neupane (Dev) 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7376670" y="4052640"/>
            <a:ext cx="178206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Voter Login, UI &amp; Search Implement</a:t>
            </a:r>
            <a:endParaRPr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9611610" y="3524250"/>
            <a:ext cx="164020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Riyana</a:t>
            </a:r>
            <a:r>
              <a:rPr lang="en-US" sz="1950" b="1" i="0" u="none" strike="noStrike" cap="none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 Khand(Dev)</a:t>
            </a:r>
            <a:endParaRPr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9711315" y="4277695"/>
            <a:ext cx="15621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Voting Flow</a:t>
            </a:r>
            <a:endParaRPr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1457325" y="903535"/>
            <a:ext cx="1047130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Election Committee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762000" y="1475035"/>
            <a:ext cx="10668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140" y="1794818"/>
            <a:ext cx="9492139" cy="4664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8600" y="3524250"/>
            <a:ext cx="48196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932110"/>
            <a:ext cx="5048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865787" y="2015832"/>
            <a:ext cx="252230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Aadarsha</a:t>
            </a:r>
            <a:r>
              <a:rPr lang="en-US" sz="1950" b="1" i="0" u="none" strike="noStrike" cap="none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 K.C.(PM)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1001027" y="2389602"/>
            <a:ext cx="8999621" cy="4013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B2D42"/>
                </a:solidFill>
                <a:latin typeface="+mn-lt"/>
                <a:ea typeface="Work Sans"/>
                <a:cs typeface="Work Sans"/>
                <a:sym typeface="Work Sans"/>
              </a:rPr>
              <a:t>Sprint Planning</a:t>
            </a:r>
            <a:r>
              <a:rPr lang="en-US" sz="1500" b="0" i="0" u="none" strike="noStrike" cap="none" dirty="0">
                <a:solidFill>
                  <a:srgbClr val="2B2D42"/>
                </a:solidFill>
                <a:latin typeface="+mn-lt"/>
                <a:ea typeface="Work Sans"/>
                <a:cs typeface="Work Sans"/>
                <a:sym typeface="Work Sans"/>
              </a:rPr>
              <a:t> : Work Breakdown Structure of whole 43 user-stories (sprint 1 + sprint2) with proper </a:t>
            </a:r>
            <a:r>
              <a:rPr lang="en-US" sz="1500" dirty="0">
                <a:solidFill>
                  <a:srgbClr val="2B2D42"/>
                </a:solidFill>
                <a:latin typeface="+mn-lt"/>
                <a:ea typeface="Work Sans"/>
                <a:cs typeface="Work Sans"/>
                <a:sym typeface="Work Sans"/>
              </a:rPr>
              <a:t>J</a:t>
            </a:r>
            <a:r>
              <a:rPr lang="en-US" sz="1500" b="0" i="0" u="none" strike="noStrike" cap="none" dirty="0">
                <a:solidFill>
                  <a:srgbClr val="2B2D42"/>
                </a:solidFill>
                <a:latin typeface="+mn-lt"/>
                <a:ea typeface="Work Sans"/>
                <a:cs typeface="Work Sans"/>
                <a:sym typeface="Work Sans"/>
              </a:rPr>
              <a:t>ira charts like: sprint burnt down charts, burnup report, etc.</a:t>
            </a:r>
          </a:p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B2D42"/>
                </a:solidFill>
                <a:latin typeface="+mn-lt"/>
                <a:ea typeface="Work Sans"/>
                <a:cs typeface="Work Sans"/>
                <a:sym typeface="Work Sans"/>
              </a:rPr>
              <a:t>Task Allocation : Role and skill based task allocation ensuring intime work completion.</a:t>
            </a:r>
          </a:p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B2D42"/>
                </a:solidFill>
                <a:latin typeface="+mn-lt"/>
                <a:ea typeface="Work Sans"/>
                <a:cs typeface="Work Sans"/>
                <a:sym typeface="Work Sans"/>
              </a:rPr>
              <a:t>Team work and coordination: Done different team building activities to make everyone comfortable with each other. Daily standups and weekly updates were done.</a:t>
            </a:r>
          </a:p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cap="none" dirty="0">
                <a:solidFill>
                  <a:srgbClr val="2B2D42"/>
                </a:solidFill>
                <a:latin typeface="+mn-lt"/>
                <a:ea typeface="Work Sans"/>
                <a:cs typeface="Work Sans"/>
                <a:sym typeface="Work Sans"/>
              </a:rPr>
              <a:t>Communication &amp; File sharing: Used discord for proper communication and </a:t>
            </a:r>
            <a:r>
              <a:rPr lang="en-US" sz="1500" dirty="0" err="1">
                <a:solidFill>
                  <a:srgbClr val="2B2D42"/>
                </a:solidFill>
                <a:latin typeface="+mn-lt"/>
                <a:ea typeface="Work Sans"/>
                <a:cs typeface="Work Sans"/>
                <a:sym typeface="Work Sans"/>
              </a:rPr>
              <a:t>gmail</a:t>
            </a:r>
            <a:r>
              <a:rPr lang="en-US" sz="1500" dirty="0">
                <a:solidFill>
                  <a:srgbClr val="2B2D42"/>
                </a:solidFill>
                <a:latin typeface="+mn-lt"/>
                <a:ea typeface="Work Sans"/>
                <a:cs typeface="Work Sans"/>
                <a:sym typeface="Work Sans"/>
              </a:rPr>
              <a:t> for file sharing &amp; notices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B2D42"/>
                </a:solidFill>
                <a:latin typeface="+mn-lt"/>
                <a:ea typeface="Work Sans"/>
                <a:cs typeface="Work Sans"/>
                <a:sym typeface="Work Sans"/>
              </a:rPr>
              <a:t> </a:t>
            </a:r>
            <a:r>
              <a:rPr lang="en-US" sz="1500" b="0" i="0" u="none" strike="noStrike" cap="none" dirty="0">
                <a:solidFill>
                  <a:srgbClr val="2B2D42"/>
                </a:solidFill>
                <a:latin typeface="+mn-lt"/>
                <a:ea typeface="Work Sans"/>
                <a:cs typeface="Work Sans"/>
                <a:sym typeface="Work Sans"/>
              </a:rPr>
              <a:t> Stakeholder Management: Maintained regular progress reporting to key stakeholders and managed expectations regarding feature delivery and project timelines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Sprint Retrospective: Facilitated Sprint Retrospectives to identify process bottlenecks; implemented 3 workflow improvements that increased team productivity.</a:t>
            </a:r>
            <a:endParaRPr dirty="0">
              <a:latin typeface="+mn-lt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1457325" y="903535"/>
            <a:ext cx="1047130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Roles and Responsibilities</a:t>
            </a:r>
            <a:endParaRPr dirty="0"/>
          </a:p>
        </p:txBody>
      </p:sp>
      <p:sp>
        <p:nvSpPr>
          <p:cNvPr id="114" name="Google Shape;114;p14"/>
          <p:cNvSpPr/>
          <p:nvPr/>
        </p:nvSpPr>
        <p:spPr>
          <a:xfrm>
            <a:off x="762000" y="1475035"/>
            <a:ext cx="10668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4787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140" y="1794818"/>
            <a:ext cx="9492139" cy="4664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8600" y="3524250"/>
            <a:ext cx="48196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932110"/>
            <a:ext cx="5048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865787" y="2015832"/>
            <a:ext cx="252230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dirty="0" err="1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Suwan</a:t>
            </a:r>
            <a:r>
              <a:rPr lang="en-US" sz="1950" b="1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 </a:t>
            </a:r>
            <a:r>
              <a:rPr lang="en-US" sz="1950" b="1" dirty="0" err="1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Dhital</a:t>
            </a:r>
            <a:r>
              <a:rPr lang="en-US" sz="1950" b="1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 </a:t>
            </a:r>
            <a:r>
              <a:rPr lang="en-US" sz="1950" b="1" i="0" u="none" strike="noStrike" cap="none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(BA)</a:t>
            </a:r>
            <a:endParaRPr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1457325" y="903535"/>
            <a:ext cx="1047130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Roles and Responsibilities</a:t>
            </a:r>
            <a:endParaRPr dirty="0"/>
          </a:p>
        </p:txBody>
      </p:sp>
      <p:sp>
        <p:nvSpPr>
          <p:cNvPr id="114" name="Google Shape;114;p14"/>
          <p:cNvSpPr/>
          <p:nvPr/>
        </p:nvSpPr>
        <p:spPr>
          <a:xfrm>
            <a:off x="762000" y="1475035"/>
            <a:ext cx="10668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4;p14">
            <a:extLst>
              <a:ext uri="{FF2B5EF4-FFF2-40B4-BE49-F238E27FC236}">
                <a16:creationId xmlns:a16="http://schemas.microsoft.com/office/drawing/2014/main" id="{696AFABB-F445-0F55-5F11-79069910DF67}"/>
              </a:ext>
            </a:extLst>
          </p:cNvPr>
          <p:cNvSpPr txBox="1"/>
          <p:nvPr/>
        </p:nvSpPr>
        <p:spPr>
          <a:xfrm>
            <a:off x="1001027" y="2389602"/>
            <a:ext cx="8999621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B2D42"/>
                </a:solidFill>
                <a:latin typeface="+mn-lt"/>
                <a:sym typeface="Work Sans"/>
              </a:rPr>
              <a:t>Requirement gathering: Researched about core features and functionalities &amp; stakeholder meetings</a:t>
            </a:r>
          </a:p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B2D42"/>
                </a:solidFill>
                <a:latin typeface="+mn-lt"/>
                <a:sym typeface="Work Sans"/>
              </a:rPr>
              <a:t>Documentation &amp; product back log: Sprint backlogs, SRS and other documentation with diagrams.</a:t>
            </a:r>
          </a:p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B2D42"/>
                </a:solidFill>
                <a:latin typeface="+mn-lt"/>
                <a:sym typeface="Work Sans"/>
              </a:rPr>
              <a:t>SRS : Functional &amp; Non-functional requirement authorized in client meetings.</a:t>
            </a:r>
          </a:p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B2D42"/>
                </a:solidFill>
                <a:latin typeface="+mn-lt"/>
                <a:sym typeface="Work Sans"/>
              </a:rPr>
              <a:t>Unit testing &amp; Black box testing: Proper testing is conducted after completion of each feature</a:t>
            </a:r>
          </a:p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B2D42"/>
                </a:solidFill>
                <a:latin typeface="+mn-lt"/>
                <a:sym typeface="Work Sans"/>
              </a:rPr>
              <a:t>Diagrams : Creation of diagrams like Use case, flowchart, ER diagrams , UML and activity diagrams.</a:t>
            </a:r>
          </a:p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B2D42"/>
                </a:solidFill>
                <a:latin typeface="+mn-lt"/>
                <a:sym typeface="Work Sans"/>
              </a:rPr>
              <a:t>System architecture plans &amp; designs : Designed the whole system architecture part and planned resources for implementation.</a:t>
            </a:r>
          </a:p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B2D42"/>
                </a:solidFill>
                <a:latin typeface="+mn-lt"/>
                <a:sym typeface="Work Sans"/>
              </a:rPr>
              <a:t>Live hosting requirement &amp; testing : Gathered resources for live hosting &amp; testing in live environment.</a:t>
            </a:r>
          </a:p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B2D42"/>
                </a:solidFill>
                <a:latin typeface="+mn-lt"/>
                <a:sym typeface="Work Sans"/>
              </a:rPr>
              <a:t>Implementation of monitoring system(</a:t>
            </a:r>
            <a:r>
              <a:rPr lang="en-US" sz="1500" dirty="0" err="1">
                <a:solidFill>
                  <a:srgbClr val="2B2D42"/>
                </a:solidFill>
                <a:latin typeface="+mn-lt"/>
                <a:sym typeface="Work Sans"/>
              </a:rPr>
              <a:t>wazuh</a:t>
            </a:r>
            <a:r>
              <a:rPr lang="en-US" sz="1500" dirty="0">
                <a:solidFill>
                  <a:srgbClr val="2B2D42"/>
                </a:solidFill>
                <a:latin typeface="+mn-lt"/>
                <a:sym typeface="Work Sans"/>
              </a:rPr>
              <a:t>) : Implemented a secure monitoring system named as “</a:t>
            </a:r>
            <a:r>
              <a:rPr lang="en-US" sz="1500" dirty="0" err="1">
                <a:solidFill>
                  <a:srgbClr val="2B2D42"/>
                </a:solidFill>
                <a:latin typeface="+mn-lt"/>
                <a:sym typeface="Work Sans"/>
              </a:rPr>
              <a:t>Wazuh</a:t>
            </a:r>
            <a:r>
              <a:rPr lang="en-US" sz="1500" dirty="0">
                <a:solidFill>
                  <a:srgbClr val="2B2D42"/>
                </a:solidFill>
                <a:latin typeface="+mn-lt"/>
                <a:sym typeface="Work Sans"/>
              </a:rPr>
              <a:t>”</a:t>
            </a:r>
            <a:endParaRPr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54724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8;p14" descr="image.png">
            <a:extLst>
              <a:ext uri="{FF2B5EF4-FFF2-40B4-BE49-F238E27FC236}">
                <a16:creationId xmlns:a16="http://schemas.microsoft.com/office/drawing/2014/main" id="{493E4784-E18C-82B5-A977-1386C08915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31117" y="1737715"/>
            <a:ext cx="3193382" cy="4586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8;p14" descr="image.png">
            <a:extLst>
              <a:ext uri="{FF2B5EF4-FFF2-40B4-BE49-F238E27FC236}">
                <a16:creationId xmlns:a16="http://schemas.microsoft.com/office/drawing/2014/main" id="{E086636E-D6B0-680C-5400-F59E3D7003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76771" y="1737716"/>
            <a:ext cx="3193382" cy="4586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850" y="1737716"/>
            <a:ext cx="3193382" cy="4586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8600" y="3524250"/>
            <a:ext cx="48196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932110"/>
            <a:ext cx="5048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787241" y="2058918"/>
            <a:ext cx="291108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Subrat</a:t>
            </a:r>
            <a:r>
              <a:rPr lang="en-US" sz="1950" b="1" i="0" u="none" strike="noStrike" cap="none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 </a:t>
            </a:r>
            <a:r>
              <a:rPr lang="en-US" sz="1950" b="1" i="0" u="none" strike="noStrike" cap="none" dirty="0" err="1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Regmi</a:t>
            </a:r>
            <a:r>
              <a:rPr lang="en-US" sz="1950" b="1" i="0" u="none" strike="noStrike" cap="none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 (Lead Dev)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848109" y="2462900"/>
            <a:ext cx="2906864" cy="3791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Sprint 1:</a:t>
            </a:r>
            <a:br>
              <a:rPr lang="en-US" b="1" dirty="0"/>
            </a:br>
            <a:r>
              <a:rPr lang="en-US" dirty="0"/>
              <a:t>- Admin Dashboard &amp; metrics</a:t>
            </a: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-Admin Activity &amp; pool/ candidate </a:t>
            </a:r>
          </a:p>
          <a:p>
            <a:pPr>
              <a:lnSpc>
                <a:spcPct val="160000"/>
              </a:lnSpc>
            </a:pPr>
            <a:r>
              <a:rPr lang="en-US" dirty="0"/>
              <a:t>-Admin Login &amp; Security</a:t>
            </a:r>
          </a:p>
          <a:p>
            <a:pPr>
              <a:lnSpc>
                <a:spcPct val="160000"/>
              </a:lnSpc>
            </a:pPr>
            <a:r>
              <a:rPr lang="en-US" dirty="0"/>
              <a:t>-Technical - GitHub Repository &amp; Branching Strategy Setup</a:t>
            </a:r>
            <a:endParaRPr lang="en-US" b="1" dirty="0"/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Sprint 2:</a:t>
            </a: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-Login Captcha &amp; Email OTP</a:t>
            </a:r>
            <a:br>
              <a:rPr lang="en-US" dirty="0"/>
            </a:br>
            <a:r>
              <a:rPr lang="en-US" dirty="0"/>
              <a:t>-Isolation Sensitive Files &amp; Configs</a:t>
            </a: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-Web Vulnerabilities mitigations</a:t>
            </a: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-bug fixing</a:t>
            </a:r>
            <a:endParaRPr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4230068" y="2072219"/>
            <a:ext cx="289681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Kriteeka</a:t>
            </a:r>
            <a:r>
              <a:rPr lang="en-US" sz="1950" b="1" i="0" u="none" strike="noStrike" cap="none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 Neupane (Dev) </a:t>
            </a:r>
            <a:endParaRPr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7848600" y="2081437"/>
            <a:ext cx="2354179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Riyana</a:t>
            </a:r>
            <a:r>
              <a:rPr lang="en-US" sz="1950" b="1" i="0" u="none" strike="noStrike" cap="none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 Khand(Dev)</a:t>
            </a:r>
            <a:endParaRPr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1457325" y="903535"/>
            <a:ext cx="1047130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Roles &amp; Responsibility</a:t>
            </a:r>
            <a:endParaRPr dirty="0"/>
          </a:p>
        </p:txBody>
      </p:sp>
      <p:sp>
        <p:nvSpPr>
          <p:cNvPr id="114" name="Google Shape;114;p14"/>
          <p:cNvSpPr/>
          <p:nvPr/>
        </p:nvSpPr>
        <p:spPr>
          <a:xfrm>
            <a:off x="762000" y="1475035"/>
            <a:ext cx="10668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08;p14">
            <a:extLst>
              <a:ext uri="{FF2B5EF4-FFF2-40B4-BE49-F238E27FC236}">
                <a16:creationId xmlns:a16="http://schemas.microsoft.com/office/drawing/2014/main" id="{5109468C-6B63-C17F-E858-883758BF6018}"/>
              </a:ext>
            </a:extLst>
          </p:cNvPr>
          <p:cNvSpPr txBox="1"/>
          <p:nvPr/>
        </p:nvSpPr>
        <p:spPr>
          <a:xfrm>
            <a:off x="4307528" y="2381519"/>
            <a:ext cx="3014294" cy="3791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Sprint 1:</a:t>
            </a: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-UI/UX design (</a:t>
            </a:r>
            <a:r>
              <a:rPr lang="en-US" dirty="0" err="1"/>
              <a:t>figma</a:t>
            </a:r>
            <a:r>
              <a:rPr lang="en-US" dirty="0"/>
              <a:t>)</a:t>
            </a: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-Voter Login &amp; Landing page</a:t>
            </a: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Voter verification search</a:t>
            </a:r>
            <a:br>
              <a:rPr lang="en-US" dirty="0"/>
            </a:br>
            <a:r>
              <a:rPr lang="en-US" dirty="0"/>
              <a:t>-Voter session &amp; access restriction</a:t>
            </a:r>
            <a:br>
              <a:rPr lang="en-US" dirty="0"/>
            </a:br>
            <a:r>
              <a:rPr lang="en-US" dirty="0"/>
              <a:t>-Secondary verification &amp; Auto Logout</a:t>
            </a: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Sprint 2:</a:t>
            </a:r>
            <a:br>
              <a:rPr lang="en-US" b="1" dirty="0"/>
            </a:br>
            <a:r>
              <a:rPr lang="en-US" dirty="0"/>
              <a:t>-Strict single session &amp; timeout</a:t>
            </a: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-UI mismatch &amp; duplication solved</a:t>
            </a:r>
          </a:p>
          <a:p>
            <a:pPr>
              <a:lnSpc>
                <a:spcPct val="160000"/>
              </a:lnSpc>
            </a:pPr>
            <a:r>
              <a:rPr lang="en-US" dirty="0"/>
              <a:t>-Missing Search &amp; Filter Functionality Across All Data Tables</a:t>
            </a:r>
            <a:endParaRPr dirty="0"/>
          </a:p>
        </p:txBody>
      </p:sp>
      <p:sp>
        <p:nvSpPr>
          <p:cNvPr id="6" name="Google Shape;108;p14">
            <a:extLst>
              <a:ext uri="{FF2B5EF4-FFF2-40B4-BE49-F238E27FC236}">
                <a16:creationId xmlns:a16="http://schemas.microsoft.com/office/drawing/2014/main" id="{71D1FF7B-805F-C699-77DA-BF7C5F47FA6E}"/>
              </a:ext>
            </a:extLst>
          </p:cNvPr>
          <p:cNvSpPr txBox="1"/>
          <p:nvPr/>
        </p:nvSpPr>
        <p:spPr>
          <a:xfrm>
            <a:off x="7848600" y="2372301"/>
            <a:ext cx="3014294" cy="3791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Sprint 1:</a:t>
            </a: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-Ballot Selection ( Info Grid)</a:t>
            </a: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-Voter profile &amp; Active pools display</a:t>
            </a: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Voter verification search</a:t>
            </a:r>
            <a:br>
              <a:rPr lang="en-US" dirty="0"/>
            </a:br>
            <a:r>
              <a:rPr lang="en-US" dirty="0"/>
              <a:t>-Voter confirmation</a:t>
            </a:r>
            <a:br>
              <a:rPr lang="en-US" dirty="0"/>
            </a:br>
            <a:r>
              <a:rPr lang="en-US" dirty="0"/>
              <a:t>-Live result</a:t>
            </a: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Sprint 2:</a:t>
            </a:r>
            <a:br>
              <a:rPr lang="en-US" b="1" dirty="0"/>
            </a:br>
            <a:r>
              <a:rPr lang="en-US" dirty="0"/>
              <a:t>-Simplified UI &amp; Interactive Guide</a:t>
            </a: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-UI mismatched- result portal solved</a:t>
            </a: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-Improved voter profile navigation content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689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8600" y="3524250"/>
            <a:ext cx="48196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910457" y="510440"/>
            <a:ext cx="547983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D3557"/>
                </a:solidFill>
                <a:latin typeface="Bree Serif"/>
                <a:sym typeface="Bree Serif"/>
              </a:rPr>
              <a:t>Sprint 1 Delivered(22 user story):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D3557"/>
                </a:solidFill>
                <a:latin typeface="Bree Serif"/>
                <a:sym typeface="Bree Serif"/>
              </a:rPr>
              <a:t>Core functionality &amp; Infrastructure </a:t>
            </a:r>
            <a:endParaRPr sz="2400" dirty="0"/>
          </a:p>
        </p:txBody>
      </p:sp>
      <p:sp>
        <p:nvSpPr>
          <p:cNvPr id="288" name="Google Shape;288;p25"/>
          <p:cNvSpPr/>
          <p:nvPr/>
        </p:nvSpPr>
        <p:spPr>
          <a:xfrm>
            <a:off x="314325" y="1407338"/>
            <a:ext cx="4572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542" y="674862"/>
            <a:ext cx="614855" cy="50114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 txBox="1"/>
          <p:nvPr/>
        </p:nvSpPr>
        <p:spPr>
          <a:xfrm>
            <a:off x="468969" y="1708869"/>
            <a:ext cx="4572000" cy="4653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AUTHENTICATION &amp; ACCESS (5 stories)</a:t>
            </a:r>
            <a:endParaRPr lang="en-US" dirty="0">
              <a:solidFill>
                <a:schemeClr val="tx1"/>
              </a:solidFill>
              <a:latin typeface="Inter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Voter Login portal and landing page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Admin security and login management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Voter verification search system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Session control and access restrictions</a:t>
            </a:r>
          </a:p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THE VOTING FLOW (7 stories)</a:t>
            </a:r>
            <a:endParaRPr lang="en-US" dirty="0">
              <a:solidFill>
                <a:schemeClr val="tx1"/>
              </a:solidFill>
              <a:latin typeface="Inter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Ballot selection (Information Grid)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Secondary verification modals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Vote confirmation and final submission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Candidate and election pool configuration</a:t>
            </a:r>
          </a:p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DASHBOARDS &amp; METRICS (4 stories)</a:t>
            </a:r>
            <a:endParaRPr lang="en-US" dirty="0">
              <a:solidFill>
                <a:schemeClr val="tx1"/>
              </a:solidFill>
              <a:latin typeface="Inter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Admin metrics and activity logging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Voter profile and active pool display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Live public result dashboard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Admin profile management</a:t>
            </a:r>
          </a:p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TECHNICAL FOUNDATION (6 stories)</a:t>
            </a:r>
            <a:endParaRPr lang="en-US" dirty="0">
              <a:solidFill>
                <a:schemeClr val="tx1"/>
              </a:solidFill>
              <a:latin typeface="Inter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UI/UX Design and Figma wireframing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GitHub repository and branching strategy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Live hosting, Database, and Deployment setup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NID Integration and Auto-Sync Engine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75B7407-44F4-0C64-22D6-C0BB228CF8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4175" y="841114"/>
            <a:ext cx="4768689" cy="517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950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8600" y="3524250"/>
            <a:ext cx="48196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910457" y="510440"/>
            <a:ext cx="547983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D3557"/>
                </a:solidFill>
                <a:latin typeface="Bree Serif"/>
                <a:sym typeface="Bree Serif"/>
              </a:rPr>
              <a:t>Sprint 2 Delivered(21 user story):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D3557"/>
                </a:solidFill>
                <a:latin typeface="Bree Serif"/>
                <a:sym typeface="Bree Serif"/>
              </a:rPr>
              <a:t>Security &amp; UI optimization</a:t>
            </a:r>
            <a:endParaRPr sz="2400" dirty="0"/>
          </a:p>
        </p:txBody>
      </p:sp>
      <p:sp>
        <p:nvSpPr>
          <p:cNvPr id="288" name="Google Shape;288;p25"/>
          <p:cNvSpPr/>
          <p:nvPr/>
        </p:nvSpPr>
        <p:spPr>
          <a:xfrm>
            <a:off x="314325" y="1407338"/>
            <a:ext cx="4572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542" y="674862"/>
            <a:ext cx="614855" cy="50114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 txBox="1"/>
          <p:nvPr/>
        </p:nvSpPr>
        <p:spPr>
          <a:xfrm>
            <a:off x="468969" y="1708869"/>
            <a:ext cx="4572000" cy="4653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SECURITY &amp; COMPLIANCE (7 stories)</a:t>
            </a:r>
            <a:endParaRPr lang="en-US" dirty="0">
              <a:solidFill>
                <a:schemeClr val="tx1"/>
              </a:solidFill>
              <a:latin typeface="Inter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SSL/TLS enforcement and secure headers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Web vulnerability mitigations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VPN/Proxy implementation and VPN security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Wazuh</a:t>
            </a: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 monitoring and sensitive file isolation</a:t>
            </a:r>
          </a:p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ADVANCED AUTHENTICATION (4 stories)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Login CAPTCHA and Admin Email OTP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Strict single-session and timeout controls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OTP validation and bypass security fixes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Secondary verification logic repair</a:t>
            </a:r>
          </a:p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UI/UX &amp; ACCESSIBILITY (6 stories)</a:t>
            </a:r>
            <a:endParaRPr lang="en-US" dirty="0">
              <a:solidFill>
                <a:schemeClr val="tx1"/>
              </a:solidFill>
              <a:latin typeface="Inter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Interactive voter guide and navigation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Search and filter functionality across all tables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Result portal and Dashboard layout cleanup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Mobile-responsive UI mismatch corrections</a:t>
            </a:r>
          </a:p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SYSTEM LOGIC &amp; BUG FIXES (4 stories)</a:t>
            </a:r>
            <a:endParaRPr lang="en-US" dirty="0">
              <a:solidFill>
                <a:schemeClr val="tx1"/>
              </a:solidFill>
              <a:latin typeface="Inter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Database crash fixes (Foreign Key constraints)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Proportional Ballot logic (Parties vs. Candidates)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Voter UI: Post-vote pool activity logic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Inter" panose="02000503000000020004" pitchFamily="2" charset="0"/>
              </a:rPr>
              <a:t>Voter Profile: Navigation content visibility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75B7407-44F4-0C64-22D6-C0BB228CF8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4175" y="841114"/>
            <a:ext cx="4768689" cy="517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770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8600" y="3524250"/>
            <a:ext cx="48196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995527" y="941635"/>
            <a:ext cx="4572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1D3557"/>
                </a:solidFill>
                <a:latin typeface="Bree Serif"/>
                <a:sym typeface="Bree Serif"/>
              </a:rPr>
              <a:t>Challenges &amp; solutions</a:t>
            </a:r>
            <a:endParaRPr dirty="0"/>
          </a:p>
        </p:txBody>
      </p:sp>
      <p:sp>
        <p:nvSpPr>
          <p:cNvPr id="288" name="Google Shape;288;p25"/>
          <p:cNvSpPr/>
          <p:nvPr/>
        </p:nvSpPr>
        <p:spPr>
          <a:xfrm>
            <a:off x="357352" y="1507859"/>
            <a:ext cx="4572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7352" y="964934"/>
            <a:ext cx="4476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 txBox="1"/>
          <p:nvPr/>
        </p:nvSpPr>
        <p:spPr>
          <a:xfrm>
            <a:off x="256026" y="1688834"/>
            <a:ext cx="6222124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Attacks and lack of monitoring system: </a:t>
            </a: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Soln</a:t>
            </a:r>
            <a:r>
              <a:rPr lang="en-US" dirty="0"/>
              <a:t>- Implementation of rate limiting &amp; CDN protection &amp; </a:t>
            </a:r>
            <a:r>
              <a:rPr lang="en-US" dirty="0" err="1"/>
              <a:t>wazuh</a:t>
            </a:r>
            <a:r>
              <a:rPr lang="en-US" dirty="0"/>
              <a:t> for monitoring.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Communication Gaps: Confusion between teammates about the progress of work.</a:t>
            </a: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Soln</a:t>
            </a:r>
            <a:r>
              <a:rPr lang="en-US" dirty="0"/>
              <a:t>- Conducted daily standups to share progress.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Uneven workload: Some dev have too many while other had less</a:t>
            </a: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Soln</a:t>
            </a:r>
            <a:r>
              <a:rPr lang="en-US" dirty="0"/>
              <a:t>- If someone is overwhelmed another person taking over task to help.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Code conflicts: Two people working on same file caused conflicts.</a:t>
            </a: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Soln</a:t>
            </a:r>
            <a:r>
              <a:rPr lang="en-US" dirty="0"/>
              <a:t>- we followed rigid git branching policy where everyone worked on their own branch and solved merge conflicts while merging.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Meeting tight deadlines: With busy schedules and other modules deadline’s, it was hard to finish everything at the end of sprint.</a:t>
            </a: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Soln</a:t>
            </a:r>
            <a:r>
              <a:rPr lang="en-US" dirty="0"/>
              <a:t>- We used sprint tracking to monitor our speed and and prioritize the user story and done all work according to story points.</a:t>
            </a: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75B7407-44F4-0C64-22D6-C0BB228CF8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4175" y="841114"/>
            <a:ext cx="4768689" cy="517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895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85243"/>
            <a:ext cx="50958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48600" y="3524250"/>
            <a:ext cx="48196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932110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2700" y="2213818"/>
            <a:ext cx="5038725" cy="37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1190625" y="2861518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Accessibility:</a:t>
            </a:r>
            <a:r>
              <a:rPr lang="en-US" sz="1500" b="0" i="0" u="none" strike="noStrike" cap="none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 Geographical isolation discourages citizen turnout.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190625" y="3680668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Security:</a:t>
            </a:r>
            <a:r>
              <a:rPr lang="en-US" sz="1500" b="0" i="0" u="none" strike="noStrike" cap="none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 Manual handling increases tampering risks.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190625" y="4499818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Logistics:</a:t>
            </a:r>
            <a:r>
              <a:rPr lang="en-US" sz="1500" b="0" i="0" u="none" strike="noStrike" cap="none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 High cost of physical ballot management.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2894855"/>
            <a:ext cx="190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3714005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2000" y="4533155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1352550" y="903535"/>
            <a:ext cx="105813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Legacy System Failures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762000" y="1475035"/>
            <a:ext cx="10668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46400" y="1836420"/>
            <a:ext cx="5445760" cy="4777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48600" y="3524250"/>
            <a:ext cx="48196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932110"/>
            <a:ext cx="4476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1400175" y="903535"/>
            <a:ext cx="10531316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Platform Architecture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762000" y="1475035"/>
            <a:ext cx="10668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8" name="Picture 2" descr="Image">
            <a:extLst>
              <a:ext uri="{FF2B5EF4-FFF2-40B4-BE49-F238E27FC236}">
                <a16:creationId xmlns:a16="http://schemas.microsoft.com/office/drawing/2014/main" id="{49EBAA6B-D395-9885-A41A-F4E706129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545" y="1932681"/>
            <a:ext cx="4645535" cy="458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88160"/>
            <a:ext cx="9946640" cy="4531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48600" y="3524250"/>
            <a:ext cx="48196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932110"/>
            <a:ext cx="4476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1400175" y="903535"/>
            <a:ext cx="10531316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Platform Architecture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762000" y="1475035"/>
            <a:ext cx="10668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24" name="Picture 4" descr="Image">
            <a:extLst>
              <a:ext uri="{FF2B5EF4-FFF2-40B4-BE49-F238E27FC236}">
                <a16:creationId xmlns:a16="http://schemas.microsoft.com/office/drawing/2014/main" id="{B9DB897B-B6C1-40C4-C06C-FB138FC1D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951" y="1947999"/>
            <a:ext cx="9424737" cy="4211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5113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859280"/>
            <a:ext cx="10668000" cy="4592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48600" y="3524250"/>
            <a:ext cx="48196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932110"/>
            <a:ext cx="4476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1400175" y="903535"/>
            <a:ext cx="10531316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System</a:t>
            </a:r>
            <a:r>
              <a:rPr lang="en-US" sz="3150" b="1" i="0" u="none" strike="noStrike" cap="none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 Architecture</a:t>
            </a:r>
            <a:endParaRPr dirty="0"/>
          </a:p>
        </p:txBody>
      </p:sp>
      <p:sp>
        <p:nvSpPr>
          <p:cNvPr id="148" name="Google Shape;148;p16"/>
          <p:cNvSpPr/>
          <p:nvPr/>
        </p:nvSpPr>
        <p:spPr>
          <a:xfrm>
            <a:off x="762000" y="1475035"/>
            <a:ext cx="10668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Image">
            <a:extLst>
              <a:ext uri="{FF2B5EF4-FFF2-40B4-BE49-F238E27FC236}">
                <a16:creationId xmlns:a16="http://schemas.microsoft.com/office/drawing/2014/main" id="{0B6A71C9-BECA-EEA9-3071-52A82AB44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0" y="2138176"/>
            <a:ext cx="9448800" cy="406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8359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8600" y="3524250"/>
            <a:ext cx="48196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932110"/>
            <a:ext cx="304800" cy="400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6" name="Google Shape;156;p17"/>
          <p:cNvGraphicFramePr/>
          <p:nvPr>
            <p:extLst>
              <p:ext uri="{D42A27DB-BD31-4B8C-83A1-F6EECF244321}">
                <p14:modId xmlns:p14="http://schemas.microsoft.com/office/powerpoint/2010/main" val="3912463044"/>
              </p:ext>
            </p:extLst>
          </p:nvPr>
        </p:nvGraphicFramePr>
        <p:xfrm>
          <a:off x="762000" y="3375416"/>
          <a:ext cx="10668000" cy="1915875"/>
        </p:xfrm>
        <a:graphic>
          <a:graphicData uri="http://schemas.openxmlformats.org/drawingml/2006/table">
            <a:tbl>
              <a:tblPr firstRow="1" bandRow="1">
                <a:noFill/>
                <a:tableStyleId>{7B77ECEB-9D45-4E5F-A07B-EC7B13CEC692}</a:tableStyleId>
              </a:tblPr>
              <a:tblGrid>
                <a:gridCol w="199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Bree Serif"/>
                          <a:ea typeface="Bree Serif"/>
                          <a:cs typeface="Bree Serif"/>
                          <a:sym typeface="Bree Serif"/>
                        </a:rPr>
                        <a:t>Role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Bree Serif"/>
                          <a:ea typeface="Bree Serif"/>
                          <a:cs typeface="Bree Serif"/>
                          <a:sym typeface="Bree Serif"/>
                        </a:rPr>
                        <a:t>Boundaries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B2D4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Admins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2B2D4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Setup polling windows and candidate screening.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B2D4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Voters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2B2D4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Token-based authentication and choice submission.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7" name="Google Shape;157;p17"/>
          <p:cNvSpPr/>
          <p:nvPr/>
        </p:nvSpPr>
        <p:spPr>
          <a:xfrm>
            <a:off x="762000" y="3978819"/>
            <a:ext cx="1991320" cy="47625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2753320" y="3978819"/>
            <a:ext cx="8676679" cy="47625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762000" y="4119711"/>
            <a:ext cx="19913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2753320" y="4119711"/>
            <a:ext cx="867667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762000" y="4729311"/>
            <a:ext cx="19913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2753320" y="4729311"/>
            <a:ext cx="867667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762000" y="5338911"/>
            <a:ext cx="19913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2753320" y="5338911"/>
            <a:ext cx="867667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1257300" y="903535"/>
            <a:ext cx="1068133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Access Control Matrix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762000" y="1475035"/>
            <a:ext cx="10668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8600" y="3524250"/>
            <a:ext cx="48196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932110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/>
          <p:nvPr/>
        </p:nvSpPr>
        <p:spPr>
          <a:xfrm>
            <a:off x="762000" y="4090243"/>
            <a:ext cx="10668000" cy="381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1952625" y="3623518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695325" y="4156918"/>
            <a:ext cx="28003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Planning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4619625" y="3623518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3362325" y="4156918"/>
            <a:ext cx="28003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Sprints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7286625" y="3623518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662842" y="4135995"/>
            <a:ext cx="3533316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(Continuous Integration)</a:t>
            </a:r>
            <a:r>
              <a:rPr lang="en-US" sz="1950" b="1" i="0" u="none" strike="noStrike" cap="none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CI/CD (</a:t>
            </a:r>
            <a:r>
              <a:rPr lang="en-US" sz="1950" b="1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C</a:t>
            </a:r>
            <a:r>
              <a:rPr lang="en-US" sz="1950" b="1" i="0" u="none" strike="noStrike" cap="none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ontinuous Development)</a:t>
            </a:r>
            <a:endParaRPr dirty="0"/>
          </a:p>
        </p:txBody>
      </p:sp>
      <p:sp>
        <p:nvSpPr>
          <p:cNvPr id="181" name="Google Shape;181;p18"/>
          <p:cNvSpPr/>
          <p:nvPr/>
        </p:nvSpPr>
        <p:spPr>
          <a:xfrm>
            <a:off x="9953625" y="3623518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8696325" y="4156918"/>
            <a:ext cx="28003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Launch</a:t>
            </a:r>
            <a:endParaRPr dirty="0"/>
          </a:p>
        </p:txBody>
      </p:sp>
      <p:sp>
        <p:nvSpPr>
          <p:cNvPr id="183" name="Google Shape;183;p18"/>
          <p:cNvSpPr txBox="1"/>
          <p:nvPr/>
        </p:nvSpPr>
        <p:spPr>
          <a:xfrm>
            <a:off x="1352550" y="903535"/>
            <a:ext cx="105813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Agile Lifecycle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762000" y="1475035"/>
            <a:ext cx="10668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85243"/>
            <a:ext cx="50958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48600" y="3524250"/>
            <a:ext cx="48196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932110"/>
            <a:ext cx="5048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1190625" y="211187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Software Requirement Specs (SRS)</a:t>
            </a:r>
            <a:endParaRPr dirty="0"/>
          </a:p>
        </p:txBody>
      </p:sp>
      <p:sp>
        <p:nvSpPr>
          <p:cNvPr id="196" name="Google Shape;196;p19"/>
          <p:cNvSpPr txBox="1"/>
          <p:nvPr/>
        </p:nvSpPr>
        <p:spPr>
          <a:xfrm>
            <a:off x="1190625" y="262622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Use-Case Matrix &amp; Flow Maps</a:t>
            </a:r>
            <a:endParaRPr dirty="0"/>
          </a:p>
        </p:txBody>
      </p:sp>
      <p:pic>
        <p:nvPicPr>
          <p:cNvPr id="197" name="Google Shape;19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2145207"/>
            <a:ext cx="190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2659557"/>
            <a:ext cx="2762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1493758" y="880236"/>
            <a:ext cx="1047130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1D3557"/>
                </a:solidFill>
                <a:latin typeface="Bree Serif"/>
                <a:sym typeface="Bree Serif"/>
              </a:rPr>
              <a:t>Requirements and Research</a:t>
            </a:r>
            <a:endParaRPr dirty="0"/>
          </a:p>
        </p:txBody>
      </p:sp>
      <p:sp>
        <p:nvSpPr>
          <p:cNvPr id="200" name="Google Shape;200;p19"/>
          <p:cNvSpPr/>
          <p:nvPr/>
        </p:nvSpPr>
        <p:spPr>
          <a:xfrm>
            <a:off x="762000" y="1475035"/>
            <a:ext cx="10668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96;p19">
            <a:extLst>
              <a:ext uri="{FF2B5EF4-FFF2-40B4-BE49-F238E27FC236}">
                <a16:creationId xmlns:a16="http://schemas.microsoft.com/office/drawing/2014/main" id="{4234E26E-0133-9F95-8E5C-6B26CDB3E8F1}"/>
              </a:ext>
            </a:extLst>
          </p:cNvPr>
          <p:cNvSpPr txBox="1"/>
          <p:nvPr/>
        </p:nvSpPr>
        <p:spPr>
          <a:xfrm>
            <a:off x="1190625" y="3102470"/>
            <a:ext cx="4667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Research about Voting System</a:t>
            </a:r>
            <a:endParaRPr dirty="0"/>
          </a:p>
        </p:txBody>
      </p:sp>
      <p:pic>
        <p:nvPicPr>
          <p:cNvPr id="3" name="Google Shape;198;p19" descr="image.png">
            <a:extLst>
              <a:ext uri="{FF2B5EF4-FFF2-40B4-BE49-F238E27FC236}">
                <a16:creationId xmlns:a16="http://schemas.microsoft.com/office/drawing/2014/main" id="{4EB7AF69-537E-2CE6-108E-E2D101947B5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8187" y="3181417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4" name="Picture 2" descr="Nepal News | Nepal's First Online News Portal">
            <a:extLst>
              <a:ext uri="{FF2B5EF4-FFF2-40B4-BE49-F238E27FC236}">
                <a16:creationId xmlns:a16="http://schemas.microsoft.com/office/drawing/2014/main" id="{82D9789F-96A5-E177-7C7B-C38ACD57A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2988170"/>
            <a:ext cx="3810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8600" y="3524250"/>
            <a:ext cx="48196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1352550" y="903535"/>
            <a:ext cx="41805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Risk Mitigation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762000" y="1475035"/>
            <a:ext cx="4572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932110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1190625" y="1749580"/>
            <a:ext cx="507797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Breaches:</a:t>
            </a:r>
            <a:r>
              <a:rPr lang="en-US" sz="1500" b="0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 Solved with JSON Web Token (JWT) &amp; </a:t>
            </a:r>
            <a:r>
              <a:rPr lang="en-US" sz="1500" b="0" i="0" u="none" strike="noStrike" cap="none" dirty="0" err="1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Bcrypt</a:t>
            </a:r>
            <a:r>
              <a:rPr lang="en-US" sz="1500" b="0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 hashing.</a:t>
            </a:r>
            <a:endParaRPr dirty="0"/>
          </a:p>
        </p:txBody>
      </p:sp>
      <p:sp>
        <p:nvSpPr>
          <p:cNvPr id="212" name="Google Shape;212;p20"/>
          <p:cNvSpPr txBox="1"/>
          <p:nvPr/>
        </p:nvSpPr>
        <p:spPr>
          <a:xfrm>
            <a:off x="1190625" y="2452688"/>
            <a:ext cx="4143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Conflicts:</a:t>
            </a:r>
            <a:r>
              <a:rPr lang="en-US" sz="1500" b="0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 Rigid Git branching policies.</a:t>
            </a:r>
            <a:endParaRPr dirty="0"/>
          </a:p>
        </p:txBody>
      </p:sp>
      <p:pic>
        <p:nvPicPr>
          <p:cNvPr id="214" name="Google Shape;21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8200" y="190025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6062" y="2510259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2100" y="2964031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 descr="Is there trust in cybersecurity and data privacy in 2023? – Imarc, a  digital agency">
            <a:extLst>
              <a:ext uri="{FF2B5EF4-FFF2-40B4-BE49-F238E27FC236}">
                <a16:creationId xmlns:a16="http://schemas.microsoft.com/office/drawing/2014/main" id="{0CF4122F-78C6-02A4-2A3F-AF2A362DEB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79"/>
          <a:stretch/>
        </p:blipFill>
        <p:spPr bwMode="auto">
          <a:xfrm>
            <a:off x="6858002" y="1513383"/>
            <a:ext cx="4744598" cy="298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213;p20">
            <a:extLst>
              <a:ext uri="{FF2B5EF4-FFF2-40B4-BE49-F238E27FC236}">
                <a16:creationId xmlns:a16="http://schemas.microsoft.com/office/drawing/2014/main" id="{90A5930E-CA24-350E-A3C6-500439272901}"/>
              </a:ext>
            </a:extLst>
          </p:cNvPr>
          <p:cNvSpPr txBox="1"/>
          <p:nvPr/>
        </p:nvSpPr>
        <p:spPr>
          <a:xfrm>
            <a:off x="1162050" y="3619500"/>
            <a:ext cx="510655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System Reliability (Infra):</a:t>
            </a:r>
            <a:r>
              <a:rPr lang="en-US" sz="1500" b="0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 Automated databases &amp; cloud hosting (AWS/Azure) with 99.9% </a:t>
            </a:r>
            <a:endParaRPr dirty="0"/>
          </a:p>
        </p:txBody>
      </p:sp>
      <p:pic>
        <p:nvPicPr>
          <p:cNvPr id="3" name="Google Shape;215;p20" descr="image.png">
            <a:extLst>
              <a:ext uri="{FF2B5EF4-FFF2-40B4-BE49-F238E27FC236}">
                <a16:creationId xmlns:a16="http://schemas.microsoft.com/office/drawing/2014/main" id="{E7BCB3B1-0134-8809-1D70-DCF3F410867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0351" y="3781434"/>
            <a:ext cx="2190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3;p20">
            <a:extLst>
              <a:ext uri="{FF2B5EF4-FFF2-40B4-BE49-F238E27FC236}">
                <a16:creationId xmlns:a16="http://schemas.microsoft.com/office/drawing/2014/main" id="{1543ABC8-2D08-D379-028D-7A85C51FC675}"/>
              </a:ext>
            </a:extLst>
          </p:cNvPr>
          <p:cNvSpPr txBox="1"/>
          <p:nvPr/>
        </p:nvSpPr>
        <p:spPr>
          <a:xfrm>
            <a:off x="1162050" y="4465082"/>
            <a:ext cx="510655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Identity fraud(“One person, one vote”)</a:t>
            </a:r>
            <a:r>
              <a:rPr lang="en-US" sz="1500" b="1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:</a:t>
            </a:r>
            <a:r>
              <a:rPr lang="en-US" sz="1500" b="0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 Mitigated with 2FA and unique voter id.</a:t>
            </a:r>
            <a:endParaRPr dirty="0"/>
          </a:p>
        </p:txBody>
      </p:sp>
      <p:pic>
        <p:nvPicPr>
          <p:cNvPr id="5" name="Google Shape;214;p20" descr="image.png">
            <a:extLst>
              <a:ext uri="{FF2B5EF4-FFF2-40B4-BE49-F238E27FC236}">
                <a16:creationId xmlns:a16="http://schemas.microsoft.com/office/drawing/2014/main" id="{F7D85937-75F6-73A5-7012-056B038D3CE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6063" y="4577239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13;p20">
            <a:extLst>
              <a:ext uri="{FF2B5EF4-FFF2-40B4-BE49-F238E27FC236}">
                <a16:creationId xmlns:a16="http://schemas.microsoft.com/office/drawing/2014/main" id="{39AD60C5-295D-959B-40F4-0B01D1D2AFBC}"/>
              </a:ext>
            </a:extLst>
          </p:cNvPr>
          <p:cNvSpPr txBox="1"/>
          <p:nvPr/>
        </p:nvSpPr>
        <p:spPr>
          <a:xfrm>
            <a:off x="1162050" y="5132635"/>
            <a:ext cx="510655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Vote Tampering(Data Integrity): </a:t>
            </a:r>
            <a:r>
              <a:rPr lang="en-US" sz="1500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Immutable audit logs to ensure votes cannot be altered once cast.</a:t>
            </a:r>
            <a:endParaRPr dirty="0"/>
          </a:p>
        </p:txBody>
      </p:sp>
      <p:pic>
        <p:nvPicPr>
          <p:cNvPr id="7" name="Google Shape;215;p20" descr="image.png">
            <a:extLst>
              <a:ext uri="{FF2B5EF4-FFF2-40B4-BE49-F238E27FC236}">
                <a16:creationId xmlns:a16="http://schemas.microsoft.com/office/drawing/2014/main" id="{48C7B6DA-AE40-6F6F-8677-4E8B71D4301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6062" y="5244792"/>
            <a:ext cx="2190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13;p20">
            <a:extLst>
              <a:ext uri="{FF2B5EF4-FFF2-40B4-BE49-F238E27FC236}">
                <a16:creationId xmlns:a16="http://schemas.microsoft.com/office/drawing/2014/main" id="{3E9C6970-50A1-641B-64E4-F753D66CCC8F}"/>
              </a:ext>
            </a:extLst>
          </p:cNvPr>
          <p:cNvSpPr txBox="1"/>
          <p:nvPr/>
        </p:nvSpPr>
        <p:spPr>
          <a:xfrm>
            <a:off x="1190625" y="2864406"/>
            <a:ext cx="510655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DDOS Attacks: </a:t>
            </a:r>
            <a:r>
              <a:rPr lang="en-US" sz="1500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Implementation of rate limiting &amp; CDN protection with </a:t>
            </a:r>
            <a:r>
              <a:rPr lang="en-US" sz="1500" dirty="0" err="1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wazuh</a:t>
            </a:r>
            <a:r>
              <a:rPr lang="en-US" sz="1500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 monitoring.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8600" y="3524250"/>
            <a:ext cx="48196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1400175" y="903535"/>
            <a:ext cx="4130516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UI Prototype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762000" y="1475035"/>
            <a:ext cx="4572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932110"/>
            <a:ext cx="4476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762000" y="1894135"/>
            <a:ext cx="4572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Our prototype integrates secure voter journeys with robust </a:t>
            </a:r>
            <a:r>
              <a:rPr lang="en-US" sz="1500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voter</a:t>
            </a:r>
            <a:r>
              <a:rPr lang="en-US" sz="1500" b="0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 oversight.</a:t>
            </a:r>
            <a:endParaRPr dirty="0"/>
          </a:p>
        </p:txBody>
      </p:sp>
      <p:sp>
        <p:nvSpPr>
          <p:cNvPr id="228" name="Google Shape;228;p21"/>
          <p:cNvSpPr txBox="1"/>
          <p:nvPr/>
        </p:nvSpPr>
        <p:spPr>
          <a:xfrm>
            <a:off x="1190625" y="2776128"/>
            <a:ext cx="4143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Secondary NID </a:t>
            </a:r>
            <a:r>
              <a:rPr lang="en-US" sz="1500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verification integration</a:t>
            </a:r>
            <a:endParaRPr dirty="0"/>
          </a:p>
        </p:txBody>
      </p:sp>
      <p:sp>
        <p:nvSpPr>
          <p:cNvPr id="229" name="Google Shape;229;p21"/>
          <p:cNvSpPr txBox="1"/>
          <p:nvPr/>
        </p:nvSpPr>
        <p:spPr>
          <a:xfrm>
            <a:off x="1190625" y="3290478"/>
            <a:ext cx="4143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Real-time Tabulation</a:t>
            </a:r>
            <a:endParaRPr dirty="0"/>
          </a:p>
        </p:txBody>
      </p:sp>
      <p:pic>
        <p:nvPicPr>
          <p:cNvPr id="230" name="Google Shape;23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809466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323816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6" name="Picture 2" descr="Image">
            <a:extLst>
              <a:ext uri="{FF2B5EF4-FFF2-40B4-BE49-F238E27FC236}">
                <a16:creationId xmlns:a16="http://schemas.microsoft.com/office/drawing/2014/main" id="{3DD7B955-A68D-4FE9-9536-F8F395F43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691" y="1894135"/>
            <a:ext cx="6619846" cy="3253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8600" y="3524250"/>
            <a:ext cx="48196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1400175" y="903535"/>
            <a:ext cx="4130516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UI Prototype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762000" y="1475035"/>
            <a:ext cx="4572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932110"/>
            <a:ext cx="4476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762000" y="1894135"/>
            <a:ext cx="4572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Our prototype integrates secondary verification of votes</a:t>
            </a:r>
            <a:endParaRPr dirty="0"/>
          </a:p>
        </p:txBody>
      </p:sp>
      <p:sp>
        <p:nvSpPr>
          <p:cNvPr id="228" name="Google Shape;228;p21"/>
          <p:cNvSpPr txBox="1"/>
          <p:nvPr/>
        </p:nvSpPr>
        <p:spPr>
          <a:xfrm>
            <a:off x="1209675" y="2730385"/>
            <a:ext cx="4143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Multi-factor </a:t>
            </a:r>
            <a:r>
              <a:rPr lang="en-US" sz="1500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verification</a:t>
            </a:r>
            <a:endParaRPr dirty="0"/>
          </a:p>
        </p:txBody>
      </p:sp>
      <p:sp>
        <p:nvSpPr>
          <p:cNvPr id="229" name="Google Shape;229;p21"/>
          <p:cNvSpPr txBox="1"/>
          <p:nvPr/>
        </p:nvSpPr>
        <p:spPr>
          <a:xfrm>
            <a:off x="1209675" y="3244735"/>
            <a:ext cx="4143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2B2D42"/>
                </a:solidFill>
                <a:latin typeface="Work Sans"/>
                <a:sym typeface="Work Sans"/>
              </a:rPr>
              <a:t>Proper Voting UI with Swastik sign selecting</a:t>
            </a:r>
            <a:endParaRPr dirty="0"/>
          </a:p>
        </p:txBody>
      </p:sp>
      <p:pic>
        <p:nvPicPr>
          <p:cNvPr id="230" name="Google Shape;23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1050" y="2763723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1050" y="3278073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0" name="Picture 2" descr="Image">
            <a:extLst>
              <a:ext uri="{FF2B5EF4-FFF2-40B4-BE49-F238E27FC236}">
                <a16:creationId xmlns:a16="http://schemas.microsoft.com/office/drawing/2014/main" id="{6A68F589-FEFB-FE43-F529-32C5A254D2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8947"/>
          <a:stretch/>
        </p:blipFill>
        <p:spPr bwMode="auto">
          <a:xfrm>
            <a:off x="5677540" y="1800835"/>
            <a:ext cx="6990710" cy="324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4334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85243"/>
            <a:ext cx="50958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48600" y="3524250"/>
            <a:ext cx="48196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932110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790575" y="1928068"/>
            <a:ext cx="535066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Trust Framework Shift</a:t>
            </a:r>
            <a:endParaRPr dirty="0"/>
          </a:p>
        </p:txBody>
      </p:sp>
      <p:pic>
        <p:nvPicPr>
          <p:cNvPr id="259" name="Google Shape;259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2700" y="2213818"/>
            <a:ext cx="5038725" cy="37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 txBox="1"/>
          <p:nvPr/>
        </p:nvSpPr>
        <p:spPr>
          <a:xfrm>
            <a:off x="1190625" y="2616249"/>
            <a:ext cx="4667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2B2D42"/>
                </a:solidFill>
                <a:latin typeface="Work Sans"/>
                <a:sym typeface="Work Sans"/>
              </a:rPr>
              <a:t>Implementation of VPN &amp; private network </a:t>
            </a:r>
            <a:endParaRPr dirty="0"/>
          </a:p>
        </p:txBody>
      </p:sp>
      <p:sp>
        <p:nvSpPr>
          <p:cNvPr id="261" name="Google Shape;261;p23"/>
          <p:cNvSpPr txBox="1"/>
          <p:nvPr/>
        </p:nvSpPr>
        <p:spPr>
          <a:xfrm>
            <a:off x="1219200" y="3209634"/>
            <a:ext cx="466725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Implementation of SSL /TLS</a:t>
            </a:r>
            <a:endParaRPr dirty="0"/>
          </a:p>
        </p:txBody>
      </p:sp>
      <p:pic>
        <p:nvPicPr>
          <p:cNvPr id="262" name="Google Shape;262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6419" y="2723107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6418" y="3300412"/>
            <a:ext cx="2190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1352550" y="908811"/>
            <a:ext cx="1058132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1D3557"/>
                </a:solidFill>
                <a:latin typeface="Bree Serif"/>
                <a:sym typeface="Bree Serif"/>
              </a:rPr>
              <a:t>Security</a:t>
            </a:r>
            <a:endParaRPr dirty="0"/>
          </a:p>
        </p:txBody>
      </p:sp>
      <p:sp>
        <p:nvSpPr>
          <p:cNvPr id="265" name="Google Shape;265;p23"/>
          <p:cNvSpPr/>
          <p:nvPr/>
        </p:nvSpPr>
        <p:spPr>
          <a:xfrm>
            <a:off x="762000" y="1475035"/>
            <a:ext cx="10668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61;p23">
            <a:extLst>
              <a:ext uri="{FF2B5EF4-FFF2-40B4-BE49-F238E27FC236}">
                <a16:creationId xmlns:a16="http://schemas.microsoft.com/office/drawing/2014/main" id="{3D85E842-BCF8-8C2E-8921-97BA178B80CE}"/>
              </a:ext>
            </a:extLst>
          </p:cNvPr>
          <p:cNvSpPr txBox="1"/>
          <p:nvPr/>
        </p:nvSpPr>
        <p:spPr>
          <a:xfrm>
            <a:off x="1190625" y="3778397"/>
            <a:ext cx="466725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Implementation of </a:t>
            </a:r>
            <a:r>
              <a:rPr lang="en-US" dirty="0" err="1"/>
              <a:t>Wazuh</a:t>
            </a:r>
            <a:r>
              <a:rPr lang="en-US" dirty="0"/>
              <a:t> for secure monitoring</a:t>
            </a:r>
            <a:endParaRPr dirty="0"/>
          </a:p>
        </p:txBody>
      </p:sp>
      <p:pic>
        <p:nvPicPr>
          <p:cNvPr id="3" name="Google Shape;263;p23" descr="image.png">
            <a:extLst>
              <a:ext uri="{FF2B5EF4-FFF2-40B4-BE49-F238E27FC236}">
                <a16:creationId xmlns:a16="http://schemas.microsoft.com/office/drawing/2014/main" id="{8B362432-B3F9-BFC3-2CCA-5EF0DD6660C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4189" y="3876005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63;p23" descr="image.png">
            <a:extLst>
              <a:ext uri="{FF2B5EF4-FFF2-40B4-BE49-F238E27FC236}">
                <a16:creationId xmlns:a16="http://schemas.microsoft.com/office/drawing/2014/main" id="{DDB424D3-3559-DC14-7F6A-B2B71D730F8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6417" y="4480842"/>
            <a:ext cx="2190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61;p23">
            <a:extLst>
              <a:ext uri="{FF2B5EF4-FFF2-40B4-BE49-F238E27FC236}">
                <a16:creationId xmlns:a16="http://schemas.microsoft.com/office/drawing/2014/main" id="{2622D9C3-624D-8A29-E96F-9C1A727B6591}"/>
              </a:ext>
            </a:extLst>
          </p:cNvPr>
          <p:cNvSpPr txBox="1"/>
          <p:nvPr/>
        </p:nvSpPr>
        <p:spPr>
          <a:xfrm>
            <a:off x="1162050" y="4405840"/>
            <a:ext cx="466725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Secure / </a:t>
            </a:r>
            <a:r>
              <a:rPr lang="en-US" dirty="0" err="1"/>
              <a:t>unaccessible</a:t>
            </a:r>
            <a:r>
              <a:rPr lang="en-US" dirty="0"/>
              <a:t> config &amp; internal files 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3572" y="-2094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3062" y="2423368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48600" y="3524250"/>
            <a:ext cx="48196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932110"/>
            <a:ext cx="5048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00212" y="2480518"/>
            <a:ext cx="3219450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4"/>
          <p:cNvSpPr txBox="1"/>
          <p:nvPr/>
        </p:nvSpPr>
        <p:spPr>
          <a:xfrm>
            <a:off x="6524870" y="2480531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Secure Coding:</a:t>
            </a:r>
            <a:r>
              <a:rPr lang="en-US" sz="1500" b="0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 Mastered defensive programming.</a:t>
            </a:r>
            <a:endParaRPr dirty="0"/>
          </a:p>
        </p:txBody>
      </p:sp>
      <p:sp>
        <p:nvSpPr>
          <p:cNvPr id="276" name="Google Shape;276;p24"/>
          <p:cNvSpPr txBox="1"/>
          <p:nvPr/>
        </p:nvSpPr>
        <p:spPr>
          <a:xfrm>
            <a:off x="6524870" y="3114675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Agile Mastery:</a:t>
            </a:r>
            <a:r>
              <a:rPr lang="en-US" sz="1500" b="0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 Resource &amp; sprint tracking.</a:t>
            </a:r>
            <a:endParaRPr dirty="0"/>
          </a:p>
        </p:txBody>
      </p:sp>
      <p:pic>
        <p:nvPicPr>
          <p:cNvPr id="277" name="Google Shape;277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19799" y="260240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14871" y="3210542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4"/>
          <p:cNvSpPr txBox="1"/>
          <p:nvPr/>
        </p:nvSpPr>
        <p:spPr>
          <a:xfrm>
            <a:off x="1457325" y="903535"/>
            <a:ext cx="1047130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D3557"/>
                </a:solidFill>
                <a:latin typeface="Bree Serif"/>
                <a:ea typeface="Bree Serif"/>
                <a:cs typeface="Bree Serif"/>
                <a:sym typeface="Bree Serif"/>
              </a:rPr>
              <a:t>Gains &amp; lesson learned</a:t>
            </a:r>
            <a:endParaRPr dirty="0"/>
          </a:p>
        </p:txBody>
      </p:sp>
      <p:sp>
        <p:nvSpPr>
          <p:cNvPr id="280" name="Google Shape;280;p24"/>
          <p:cNvSpPr/>
          <p:nvPr/>
        </p:nvSpPr>
        <p:spPr>
          <a:xfrm>
            <a:off x="762000" y="1475035"/>
            <a:ext cx="10668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77;p24" descr="image.png">
            <a:extLst>
              <a:ext uri="{FF2B5EF4-FFF2-40B4-BE49-F238E27FC236}">
                <a16:creationId xmlns:a16="http://schemas.microsoft.com/office/drawing/2014/main" id="{EA91A89F-CEE8-EF32-1016-FA3E99BE2FA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14871" y="3771695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78;p24" descr="image.png">
            <a:extLst>
              <a:ext uri="{FF2B5EF4-FFF2-40B4-BE49-F238E27FC236}">
                <a16:creationId xmlns:a16="http://schemas.microsoft.com/office/drawing/2014/main" id="{7FA57B5C-459B-FCBA-6455-BD28B0B6FBC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14871" y="4590845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75;p24">
            <a:extLst>
              <a:ext uri="{FF2B5EF4-FFF2-40B4-BE49-F238E27FC236}">
                <a16:creationId xmlns:a16="http://schemas.microsoft.com/office/drawing/2014/main" id="{451D5CF8-099E-314E-2C18-A55FF5B0C15C}"/>
              </a:ext>
            </a:extLst>
          </p:cNvPr>
          <p:cNvSpPr txBox="1"/>
          <p:nvPr/>
        </p:nvSpPr>
        <p:spPr>
          <a:xfrm>
            <a:off x="6579149" y="3626561"/>
            <a:ext cx="4667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Time management:</a:t>
            </a:r>
            <a:r>
              <a:rPr lang="en-US" sz="1500" b="0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 Learned how to finish task in time &amp; stay organized.</a:t>
            </a:r>
            <a:endParaRPr dirty="0"/>
          </a:p>
        </p:txBody>
      </p:sp>
      <p:sp>
        <p:nvSpPr>
          <p:cNvPr id="5" name="Google Shape;276;p24">
            <a:extLst>
              <a:ext uri="{FF2B5EF4-FFF2-40B4-BE49-F238E27FC236}">
                <a16:creationId xmlns:a16="http://schemas.microsoft.com/office/drawing/2014/main" id="{EC631C6B-45C1-9EA8-0F77-B7CE2F7B3C41}"/>
              </a:ext>
            </a:extLst>
          </p:cNvPr>
          <p:cNvSpPr txBox="1"/>
          <p:nvPr/>
        </p:nvSpPr>
        <p:spPr>
          <a:xfrm>
            <a:off x="6579149" y="4445711"/>
            <a:ext cx="4667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Better Teamwork</a:t>
            </a:r>
            <a:r>
              <a:rPr lang="en-US" sz="1500" b="1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:</a:t>
            </a:r>
            <a:r>
              <a:rPr lang="en-US" sz="1500" b="0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 Improved how we communicate and work together.</a:t>
            </a:r>
            <a:endParaRPr dirty="0"/>
          </a:p>
        </p:txBody>
      </p:sp>
      <p:sp>
        <p:nvSpPr>
          <p:cNvPr id="6" name="Google Shape;276;p24">
            <a:extLst>
              <a:ext uri="{FF2B5EF4-FFF2-40B4-BE49-F238E27FC236}">
                <a16:creationId xmlns:a16="http://schemas.microsoft.com/office/drawing/2014/main" id="{5DA295AA-0FBD-D8EC-05BA-A1C3BC854F9F}"/>
              </a:ext>
            </a:extLst>
          </p:cNvPr>
          <p:cNvSpPr txBox="1"/>
          <p:nvPr/>
        </p:nvSpPr>
        <p:spPr>
          <a:xfrm>
            <a:off x="6524870" y="5216347"/>
            <a:ext cx="4667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User Feedback</a:t>
            </a:r>
            <a:r>
              <a:rPr lang="en-US" sz="1500" b="1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:</a:t>
            </a:r>
            <a:r>
              <a:rPr lang="en-US" sz="1500" b="0" i="0" u="none" strike="noStrike" cap="none" dirty="0">
                <a:solidFill>
                  <a:srgbClr val="2B2D42"/>
                </a:solidFill>
                <a:latin typeface="Work Sans"/>
                <a:ea typeface="Work Sans"/>
                <a:cs typeface="Work Sans"/>
                <a:sym typeface="Work Sans"/>
              </a:rPr>
              <a:t> Improving the app based on real-world testing.</a:t>
            </a:r>
            <a:endParaRPr dirty="0"/>
          </a:p>
        </p:txBody>
      </p:sp>
      <p:pic>
        <p:nvPicPr>
          <p:cNvPr id="7" name="Google Shape;278;p24" descr="image.png">
            <a:extLst>
              <a:ext uri="{FF2B5EF4-FFF2-40B4-BE49-F238E27FC236}">
                <a16:creationId xmlns:a16="http://schemas.microsoft.com/office/drawing/2014/main" id="{21A231B2-4869-5F69-8918-F56FE2ADDEB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14871" y="5312214"/>
            <a:ext cx="2476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8600" y="3524250"/>
            <a:ext cx="48196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6"/>
          <p:cNvSpPr txBox="1"/>
          <p:nvPr/>
        </p:nvSpPr>
        <p:spPr>
          <a:xfrm>
            <a:off x="4442672" y="2433191"/>
            <a:ext cx="3306507" cy="890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5" b="1" i="0" u="none" strike="noStrike" cap="none">
                <a:solidFill>
                  <a:srgbClr val="1D3557"/>
                </a:solidFill>
                <a:latin typeface="Rowdies"/>
                <a:ea typeface="Rowdies"/>
                <a:cs typeface="Rowdies"/>
                <a:sym typeface="Rowdies"/>
              </a:rPr>
              <a:t>Q&amp;A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4521398" y="3866108"/>
            <a:ext cx="3149054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E63946"/>
                </a:solidFill>
                <a:latin typeface="Bree Serif"/>
                <a:ea typeface="Bree Serif"/>
                <a:cs typeface="Bree Serif"/>
                <a:sym typeface="Bree Serif"/>
              </a:rPr>
              <a:t>Thank you for your attention.</a:t>
            </a:r>
            <a:endParaRPr/>
          </a:p>
        </p:txBody>
      </p:sp>
      <p:sp>
        <p:nvSpPr>
          <p:cNvPr id="304" name="Google Shape;304;p26"/>
          <p:cNvSpPr/>
          <p:nvPr/>
        </p:nvSpPr>
        <p:spPr>
          <a:xfrm>
            <a:off x="5619675" y="3730446"/>
            <a:ext cx="952500" cy="381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1242</Words>
  <Application>Microsoft Macintosh PowerPoint</Application>
  <PresentationFormat>Widescreen</PresentationFormat>
  <Paragraphs>165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Bree Serif</vt:lpstr>
      <vt:lpstr>Inter</vt:lpstr>
      <vt:lpstr>Work Sans</vt:lpstr>
      <vt:lpstr>Rowdies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Aarju Kc</cp:lastModifiedBy>
  <cp:revision>8</cp:revision>
  <dcterms:modified xsi:type="dcterms:W3CDTF">2026-05-21T04:36:15Z</dcterms:modified>
</cp:coreProperties>
</file>